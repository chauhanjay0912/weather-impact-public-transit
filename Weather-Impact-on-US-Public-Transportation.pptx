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Gelasio" panose="020B0604020202020204" charset="0"/>
      <p:regular r:id="rId14"/>
    </p:embeddedFont>
    <p:embeddedFont>
      <p:font typeface="Gelasio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83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6460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Weather Impact on US Public Transportation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42232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project report on how weather affects transit systems in Boston, Chicago, and New York.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4032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0213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Creators: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6393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25070149004 - BVS Supriya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0815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25070149006 - Jay Chauhan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523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25070149014 - Malhar Shinde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14183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Faculty Guides: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75989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Dr. Nilkanth Deshpande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72020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Dr. Shrikrishna Kolhar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975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948696"/>
            <a:ext cx="3664744" cy="2940010"/>
          </a:xfrm>
          <a:prstGeom prst="roundRect">
            <a:avLst>
              <a:gd name="adj" fmla="val 1157"/>
            </a:avLst>
          </a:prstGeom>
          <a:solidFill>
            <a:srgbClr val="EEE8DD"/>
          </a:solidFill>
          <a:ln/>
        </p:spPr>
      </p:sp>
      <p:sp>
        <p:nvSpPr>
          <p:cNvPr id="5" name="Shape 2"/>
          <p:cNvSpPr/>
          <p:nvPr/>
        </p:nvSpPr>
        <p:spPr>
          <a:xfrm>
            <a:off x="1020604" y="21755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5B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236255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3573185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B735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Snowy weather causes 114% more delays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than clear conditions.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348" y="1948696"/>
            <a:ext cx="3664863" cy="2940010"/>
          </a:xfrm>
          <a:prstGeom prst="roundRect">
            <a:avLst>
              <a:gd name="adj" fmla="val 1157"/>
            </a:avLst>
          </a:prstGeom>
          <a:solidFill>
            <a:srgbClr val="EEE8DD"/>
          </a:solidFill>
          <a:ln/>
        </p:spPr>
      </p:sp>
      <p:sp>
        <p:nvSpPr>
          <p:cNvPr id="10" name="Shape 6"/>
          <p:cNvSpPr/>
          <p:nvPr/>
        </p:nvSpPr>
        <p:spPr>
          <a:xfrm>
            <a:off x="4912162" y="21755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5B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9328" y="2362557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2162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Coverage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912162" y="3573185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Boston, Chicago, New York.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5115520"/>
            <a:ext cx="7556421" cy="2214205"/>
          </a:xfrm>
          <a:prstGeom prst="roundRect">
            <a:avLst>
              <a:gd name="adj" fmla="val 1537"/>
            </a:avLst>
          </a:prstGeom>
          <a:solidFill>
            <a:srgbClr val="EEE8DD"/>
          </a:solidFill>
          <a:ln/>
        </p:spPr>
      </p:sp>
      <p:sp>
        <p:nvSpPr>
          <p:cNvPr id="15" name="Shape 10"/>
          <p:cNvSpPr/>
          <p:nvPr/>
        </p:nvSpPr>
        <p:spPr>
          <a:xfrm>
            <a:off x="1020604" y="53423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5B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7770" y="5529382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0604" y="62495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Analyzed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020604" y="674000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364,038 records across 429 routes over 731 days.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214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997154"/>
            <a:ext cx="350150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357920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 public transportation systems lose millions annually due to weather-related delays. Transit agencies lack quantitative data to: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01360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 disruptions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45580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Allocate resources efficiently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89799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Justify infrastructure investments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70310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Communicate expectations to passengers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1997154"/>
            <a:ext cx="350150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Objectives</a:t>
            </a:r>
            <a:endParaRPr lang="en-US" sz="3550" dirty="0"/>
          </a:p>
        </p:txBody>
      </p:sp>
      <p:sp>
        <p:nvSpPr>
          <p:cNvPr id="11" name="Text 8"/>
          <p:cNvSpPr/>
          <p:nvPr/>
        </p:nvSpPr>
        <p:spPr>
          <a:xfrm>
            <a:off x="4856321" y="279094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Quantify weather impact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323314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 disruptive conditions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367534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Compare city resilience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856321" y="411753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Build monitoring pipeline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455973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Deliver actionable insights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926" y="614958"/>
            <a:ext cx="7580948" cy="139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Collection &amp; Processing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67926" y="2680454"/>
            <a:ext cx="3678793" cy="2366605"/>
          </a:xfrm>
          <a:prstGeom prst="roundRect">
            <a:avLst>
              <a:gd name="adj" fmla="val 6182"/>
            </a:avLst>
          </a:prstGeom>
          <a:solidFill>
            <a:srgbClr val="F9F6F0"/>
          </a:solidFill>
          <a:ln/>
        </p:spPr>
      </p:sp>
      <p:sp>
        <p:nvSpPr>
          <p:cNvPr id="5" name="Shape 2"/>
          <p:cNvSpPr/>
          <p:nvPr/>
        </p:nvSpPr>
        <p:spPr>
          <a:xfrm>
            <a:off x="6267926" y="2649974"/>
            <a:ext cx="3678793" cy="121920"/>
          </a:xfrm>
          <a:prstGeom prst="roundRect">
            <a:avLst>
              <a:gd name="adj" fmla="val 27475"/>
            </a:avLst>
          </a:prstGeom>
          <a:solidFill>
            <a:srgbClr val="6B5B47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0" y="2345531"/>
            <a:ext cx="669846" cy="669846"/>
          </a:xfrm>
          <a:prstGeom prst="roundRect">
            <a:avLst>
              <a:gd name="adj" fmla="val 136509"/>
            </a:avLst>
          </a:prstGeom>
          <a:solidFill>
            <a:srgbClr val="6B5B47"/>
          </a:solidFill>
          <a:ln/>
        </p:spPr>
      </p:sp>
      <p:sp>
        <p:nvSpPr>
          <p:cNvPr id="7" name="Text 4"/>
          <p:cNvSpPr/>
          <p:nvPr/>
        </p:nvSpPr>
        <p:spPr>
          <a:xfrm>
            <a:off x="7973377" y="251293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521648" y="3238619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Weather Data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521648" y="3721418"/>
            <a:ext cx="3171349" cy="10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Visual Crossing Weather API: Daily observations for </a:t>
            </a:r>
            <a:r>
              <a:rPr lang="en-US" sz="175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 cities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over </a:t>
            </a:r>
            <a:r>
              <a:rPr lang="en-US" sz="175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731 days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169962" y="2680454"/>
            <a:ext cx="3678912" cy="2366605"/>
          </a:xfrm>
          <a:prstGeom prst="roundRect">
            <a:avLst>
              <a:gd name="adj" fmla="val 6182"/>
            </a:avLst>
          </a:prstGeom>
          <a:solidFill>
            <a:srgbClr val="F9F6F0"/>
          </a:solidFill>
          <a:ln/>
        </p:spPr>
      </p:sp>
      <p:sp>
        <p:nvSpPr>
          <p:cNvPr id="11" name="Shape 8"/>
          <p:cNvSpPr/>
          <p:nvPr/>
        </p:nvSpPr>
        <p:spPr>
          <a:xfrm>
            <a:off x="10169962" y="2649974"/>
            <a:ext cx="3678912" cy="121920"/>
          </a:xfrm>
          <a:prstGeom prst="roundRect">
            <a:avLst>
              <a:gd name="adj" fmla="val 27475"/>
            </a:avLst>
          </a:prstGeom>
          <a:solidFill>
            <a:srgbClr val="6B5B47"/>
          </a:solidFill>
          <a:ln/>
        </p:spPr>
      </p:sp>
      <p:sp>
        <p:nvSpPr>
          <p:cNvPr id="12" name="Shape 9"/>
          <p:cNvSpPr/>
          <p:nvPr/>
        </p:nvSpPr>
        <p:spPr>
          <a:xfrm>
            <a:off x="11674435" y="2345531"/>
            <a:ext cx="669846" cy="669846"/>
          </a:xfrm>
          <a:prstGeom prst="roundRect">
            <a:avLst>
              <a:gd name="adj" fmla="val 136509"/>
            </a:avLst>
          </a:prstGeom>
          <a:solidFill>
            <a:srgbClr val="6B5B47"/>
          </a:solidFill>
          <a:ln/>
        </p:spPr>
      </p:sp>
      <p:sp>
        <p:nvSpPr>
          <p:cNvPr id="13" name="Text 10"/>
          <p:cNvSpPr/>
          <p:nvPr/>
        </p:nvSpPr>
        <p:spPr>
          <a:xfrm>
            <a:off x="11875413" y="251293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0423684" y="3238619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Transit Data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423684" y="3721418"/>
            <a:ext cx="3171468" cy="10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GTFS feeds: </a:t>
            </a:r>
            <a:r>
              <a:rPr lang="en-US" sz="175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143 routes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each for MBTA, CTA, MTA (</a:t>
            </a:r>
            <a:r>
              <a:rPr lang="en-US" sz="175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429 total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).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267926" y="5605224"/>
            <a:ext cx="7580948" cy="2009299"/>
          </a:xfrm>
          <a:prstGeom prst="roundRect">
            <a:avLst>
              <a:gd name="adj" fmla="val 7281"/>
            </a:avLst>
          </a:prstGeom>
          <a:solidFill>
            <a:srgbClr val="F9F6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7926" y="5574744"/>
            <a:ext cx="7580948" cy="121920"/>
          </a:xfrm>
          <a:prstGeom prst="roundRect">
            <a:avLst>
              <a:gd name="adj" fmla="val 27475"/>
            </a:avLst>
          </a:prstGeom>
          <a:solidFill>
            <a:srgbClr val="6B5B47"/>
          </a:solidFill>
          <a:ln/>
        </p:spPr>
      </p:sp>
      <p:sp>
        <p:nvSpPr>
          <p:cNvPr id="18" name="Shape 15"/>
          <p:cNvSpPr/>
          <p:nvPr/>
        </p:nvSpPr>
        <p:spPr>
          <a:xfrm>
            <a:off x="9723477" y="5270302"/>
            <a:ext cx="669846" cy="669846"/>
          </a:xfrm>
          <a:prstGeom prst="roundRect">
            <a:avLst>
              <a:gd name="adj" fmla="val 136509"/>
            </a:avLst>
          </a:prstGeom>
          <a:solidFill>
            <a:srgbClr val="6B5B47"/>
          </a:solidFill>
          <a:ln/>
        </p:spPr>
      </p:sp>
      <p:sp>
        <p:nvSpPr>
          <p:cNvPr id="19" name="Text 16"/>
          <p:cNvSpPr/>
          <p:nvPr/>
        </p:nvSpPr>
        <p:spPr>
          <a:xfrm>
            <a:off x="9924455" y="543770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521648" y="6163389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ETL Process</a:t>
            </a:r>
            <a:endParaRPr lang="en-US" sz="2150" dirty="0"/>
          </a:p>
        </p:txBody>
      </p:sp>
      <p:sp>
        <p:nvSpPr>
          <p:cNvPr id="21" name="Text 18"/>
          <p:cNvSpPr/>
          <p:nvPr/>
        </p:nvSpPr>
        <p:spPr>
          <a:xfrm>
            <a:off x="6521648" y="6646188"/>
            <a:ext cx="7073503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Extract, Transform, Load into PostgreSQL, including cleaning and merging data.</a:t>
            </a:r>
            <a:endParaRPr lang="en-US" sz="1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65FA44-F953-8017-4ACF-DE7B94AD4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239" y="7656154"/>
            <a:ext cx="1867161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550" y="503158"/>
            <a:ext cx="6907649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cs typeface="Gelasio Semi Bold" pitchFamily="34" charset="-120"/>
              </a:rPr>
              <a:t>Pipeline</a:t>
            </a:r>
            <a:r>
              <a:rPr lang="en-US" sz="2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cs typeface="Gelasio Semi Bold" pitchFamily="34" charset="-120"/>
              </a:rPr>
              <a:t>Execution Flow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39292" y="1259337"/>
            <a:ext cx="582216" cy="870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5453" y="1484143"/>
            <a:ext cx="1759653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Airflow Scheduler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755454" y="1735842"/>
            <a:ext cx="1280151" cy="18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(Every 5 minutes)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29358" y="1270203"/>
            <a:ext cx="582216" cy="8700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4806" y="1541232"/>
            <a:ext cx="2386361" cy="30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dirty="0">
                <a:solidFill>
                  <a:srgbClr val="746558"/>
                </a:solidFill>
                <a:latin typeface="Gelasio Semi Bold" pitchFamily="34" charset="0"/>
                <a:cs typeface="Gelasio Semi Bold" pitchFamily="34" charset="-120"/>
              </a:rPr>
              <a:t>Trigger US Cities DAG</a:t>
            </a:r>
          </a:p>
        </p:txBody>
      </p:sp>
      <p:sp>
        <p:nvSpPr>
          <p:cNvPr id="9" name="Text 4"/>
          <p:cNvSpPr/>
          <p:nvPr/>
        </p:nvSpPr>
        <p:spPr>
          <a:xfrm flipH="1">
            <a:off x="9280869" y="1484626"/>
            <a:ext cx="1255968" cy="242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 Semi Bold" pitchFamily="34" charset="0"/>
                <a:cs typeface="Gelasio Semi Bold" pitchFamily="34" charset="-120"/>
              </a:rPr>
              <a:t>Step 1: Fetch Weather Data</a:t>
            </a:r>
          </a:p>
        </p:txBody>
      </p:sp>
      <p:sp>
        <p:nvSpPr>
          <p:cNvPr id="10" name="Text 5"/>
          <p:cNvSpPr/>
          <p:nvPr/>
        </p:nvSpPr>
        <p:spPr>
          <a:xfrm>
            <a:off x="9370079" y="1767753"/>
            <a:ext cx="3167171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4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API Call to Visual Crossing</a:t>
            </a:r>
          </a:p>
          <a:p>
            <a:pPr marL="342900" indent="-342900">
              <a:lnSpc>
                <a:spcPts val="14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Fetch data for 3 cities</a:t>
            </a:r>
          </a:p>
          <a:p>
            <a:pPr marL="342900" indent="-342900">
              <a:lnSpc>
                <a:spcPts val="14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Save to weather_data.csv</a:t>
            </a:r>
          </a:p>
          <a:p>
            <a:pPr marL="285750" indent="-285750">
              <a:lnSpc>
                <a:spcPts val="145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746558"/>
              </a:solidFill>
              <a:latin typeface="Gelasio" pitchFamily="34" charset="0"/>
              <a:cs typeface="Gelasio" pitchFamily="34" charset="-12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729" y="2530943"/>
            <a:ext cx="582216" cy="7908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70079" y="3587623"/>
            <a:ext cx="1859042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dirty="0">
                <a:solidFill>
                  <a:srgbClr val="746558"/>
                </a:solidFill>
                <a:latin typeface="Gelasio Semi Bold" pitchFamily="34" charset="0"/>
                <a:cs typeface="Gelasio Semi Bold" pitchFamily="34" charset="-120"/>
              </a:rPr>
              <a:t>Step 2: Fetch Transit Data</a:t>
            </a:r>
          </a:p>
        </p:txBody>
      </p:sp>
      <p:sp>
        <p:nvSpPr>
          <p:cNvPr id="19" name="Text 12"/>
          <p:cNvSpPr/>
          <p:nvPr/>
        </p:nvSpPr>
        <p:spPr>
          <a:xfrm>
            <a:off x="9370079" y="5765608"/>
            <a:ext cx="1455658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1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 Semi Bold" pitchFamily="34" charset="0"/>
                <a:cs typeface="Gelasio Semi Bold" pitchFamily="34" charset="-120"/>
              </a:rPr>
              <a:t>Step 3: Process Data</a:t>
            </a:r>
          </a:p>
        </p:txBody>
      </p:sp>
      <p:sp>
        <p:nvSpPr>
          <p:cNvPr id="20" name="Text 13"/>
          <p:cNvSpPr/>
          <p:nvPr/>
        </p:nvSpPr>
        <p:spPr>
          <a:xfrm>
            <a:off x="9280869" y="6052855"/>
            <a:ext cx="3731211" cy="790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Load CSV files</a:t>
            </a:r>
          </a:p>
          <a:p>
            <a:pPr marL="342900" indent="-342900">
              <a:lnSpc>
                <a:spcPts val="145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Merge datasets</a:t>
            </a:r>
          </a:p>
          <a:p>
            <a:pPr marL="342900" indent="-342900">
              <a:lnSpc>
                <a:spcPts val="145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Clean and validate</a:t>
            </a:r>
          </a:p>
          <a:p>
            <a:pPr marL="342900" indent="-342900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Insert into PostgreSQL</a:t>
            </a:r>
          </a:p>
        </p:txBody>
      </p:sp>
      <p:sp>
        <p:nvSpPr>
          <p:cNvPr id="25" name="Text 17"/>
          <p:cNvSpPr/>
          <p:nvPr/>
        </p:nvSpPr>
        <p:spPr>
          <a:xfrm>
            <a:off x="5349536" y="5765608"/>
            <a:ext cx="1471732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dirty="0">
                <a:solidFill>
                  <a:srgbClr val="746558"/>
                </a:solidFill>
                <a:latin typeface="Gelasio Semi Bold" pitchFamily="34" charset="0"/>
                <a:cs typeface="Gelasio Semi Bold" pitchFamily="34" charset="-120"/>
              </a:rPr>
              <a:t>Step 4: Run Analysis</a:t>
            </a:r>
          </a:p>
        </p:txBody>
      </p:sp>
      <p:sp>
        <p:nvSpPr>
          <p:cNvPr id="26" name="Text 18"/>
          <p:cNvSpPr/>
          <p:nvPr/>
        </p:nvSpPr>
        <p:spPr>
          <a:xfrm>
            <a:off x="5349536" y="6052855"/>
            <a:ext cx="3030892" cy="790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Query weather_db</a:t>
            </a:r>
          </a:p>
          <a:p>
            <a:pPr marL="342900" indent="-342900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Calculate correlations</a:t>
            </a:r>
          </a:p>
          <a:p>
            <a:pPr marL="342900" indent="-342900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Generate insights</a:t>
            </a:r>
          </a:p>
          <a:p>
            <a:pPr marL="342900" indent="-342900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cs typeface="Gelasio" pitchFamily="34" charset="-120"/>
              </a:rPr>
              <a:t>Log results</a:t>
            </a:r>
          </a:p>
        </p:txBody>
      </p:sp>
      <p:sp>
        <p:nvSpPr>
          <p:cNvPr id="31" name="Text 22"/>
          <p:cNvSpPr/>
          <p:nvPr/>
        </p:nvSpPr>
        <p:spPr>
          <a:xfrm>
            <a:off x="2155778" y="6175369"/>
            <a:ext cx="1759653" cy="36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746558"/>
              </a:solidFill>
              <a:latin typeface="Gelasio Semi Bold" pitchFamily="34" charset="0"/>
              <a:cs typeface="Gelasio Semi Bold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 Semi Bold" pitchFamily="34" charset="0"/>
                <a:cs typeface="Gelasio Semi Bold" pitchFamily="34" charset="-120"/>
              </a:rPr>
              <a:t>DAG</a:t>
            </a:r>
            <a:r>
              <a:rPr lang="en-US" sz="1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dirty="0">
                <a:solidFill>
                  <a:srgbClr val="746558"/>
                </a:solidFill>
                <a:latin typeface="Gelasio Semi Bold" pitchFamily="34" charset="0"/>
                <a:cs typeface="Gelasio Semi Bold" pitchFamily="34" charset="-120"/>
              </a:rPr>
              <a:t>Complete</a:t>
            </a:r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205420" y="1259333"/>
            <a:ext cx="582216" cy="870023"/>
          </a:xfrm>
          <a:prstGeom prst="rect">
            <a:avLst/>
          </a:prstGeom>
        </p:spPr>
      </p:pic>
      <p:sp>
        <p:nvSpPr>
          <p:cNvPr id="33" name="Text 9"/>
          <p:cNvSpPr/>
          <p:nvPr/>
        </p:nvSpPr>
        <p:spPr>
          <a:xfrm>
            <a:off x="9370079" y="3839321"/>
            <a:ext cx="2228005" cy="65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Fetching Transit Data (GTFS)</a:t>
            </a:r>
          </a:p>
          <a:p>
            <a:pPr marL="342900" indent="-342900">
              <a:lnSpc>
                <a:spcPts val="14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Correlate with weather patterns</a:t>
            </a:r>
          </a:p>
          <a:p>
            <a:pPr marL="342900" indent="-342900">
              <a:lnSpc>
                <a:spcPts val="145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Save to transit_data.csv</a:t>
            </a:r>
            <a:endParaRPr lang="en-US" sz="1400" dirty="0"/>
          </a:p>
          <a:p>
            <a:pPr>
              <a:lnSpc>
                <a:spcPts val="1450"/>
              </a:lnSpc>
              <a:buSzPct val="100000"/>
            </a:pPr>
            <a:endParaRPr lang="en-US" sz="1400" dirty="0"/>
          </a:p>
        </p:txBody>
      </p:sp>
      <p:pic>
        <p:nvPicPr>
          <p:cNvPr id="36" name="Image 3" descr="preencoded.png">
            <a:extLst>
              <a:ext uri="{FF2B5EF4-FFF2-40B4-BE49-F238E27FC236}">
                <a16:creationId xmlns:a16="http://schemas.microsoft.com/office/drawing/2014/main" id="{09611FAB-2014-1248-37F2-09340D0D9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39" y="4624070"/>
            <a:ext cx="582216" cy="790813"/>
          </a:xfrm>
          <a:prstGeom prst="rect">
            <a:avLst/>
          </a:prstGeom>
        </p:spPr>
      </p:pic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12F3047C-6C14-1D18-CB21-2506F261A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227577" y="6013876"/>
            <a:ext cx="582216" cy="790813"/>
          </a:xfrm>
          <a:prstGeom prst="rect">
            <a:avLst/>
          </a:prstGeom>
        </p:spPr>
      </p:pic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99424E6D-910E-ACF5-9AEC-FB58BF02A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129357" y="5961891"/>
            <a:ext cx="582216" cy="7908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926815-4708-92BF-648C-52B68F7D8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3239" y="7651420"/>
            <a:ext cx="1867161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1151"/>
            <a:ext cx="90536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Analysis Results: Overall Impact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53558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6117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90488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Weather Condition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90488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Delay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943" y="290488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% of Total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290488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Impact vs Clear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41149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55520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Snowy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355520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2.14 min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943" y="355520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15.6%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802779" y="355520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+114.0%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06181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420552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Rainy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420552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1.40 min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943" y="420552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30.0%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802779" y="420552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+40.0%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71213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485584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Windy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485584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1.06 min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485584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10.8%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485584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+6.0%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36245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550616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Clear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89108" y="550616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1.00 min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545943" y="550616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43.6%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802779" y="550616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Baseline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93790" y="6275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Snow causes more than double the delays, while rain increases delays by 40%.</a:t>
            </a:r>
            <a:endParaRPr lang="en-US" sz="17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393F259-2DFF-3A30-09B8-8565A8957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595" y="7645003"/>
            <a:ext cx="1867161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6729" y="739973"/>
            <a:ext cx="7683341" cy="1303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City-Specific &amp; Seasonal Patterns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16729" y="2565440"/>
            <a:ext cx="3587115" cy="52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City Analysis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216729" y="3295650"/>
            <a:ext cx="3587115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Boston (MBTA):</a:t>
            </a: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Avg Delay 1.30 min, significant snow delays.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16729" y="4036338"/>
            <a:ext cx="3587115" cy="1001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Chicago (CTA):</a:t>
            </a: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Avg Delay 1.31 min (highest), most severe winter impact.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6729" y="5110877"/>
            <a:ext cx="3587115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New York (MTA):</a:t>
            </a: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Avg Delay 1.30 min, similar snow impact.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6729" y="5966341"/>
            <a:ext cx="3587115" cy="133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 cities show similar weather resilience patterns, with Chicago experiencing the highest overall delays.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320576" y="2565440"/>
            <a:ext cx="3587115" cy="1043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Seasonal Patterns</a:t>
            </a:r>
            <a:endParaRPr lang="en-US" sz="3250" dirty="0"/>
          </a:p>
        </p:txBody>
      </p:sp>
      <p:sp>
        <p:nvSpPr>
          <p:cNvPr id="10" name="Text 7"/>
          <p:cNvSpPr/>
          <p:nvPr/>
        </p:nvSpPr>
        <p:spPr>
          <a:xfrm>
            <a:off x="10320576" y="3817263"/>
            <a:ext cx="3587115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Winter:</a:t>
            </a: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1.45 min avg delay, 23% more than summer.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320576" y="4557951"/>
            <a:ext cx="3587115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Summer:</a:t>
            </a: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Most reliable service.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320576" y="5079563"/>
            <a:ext cx="3587115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Snowfall is the strongest predictor of delays (correlation 0.45).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27841B-3800-9193-F439-9D759E8AE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239" y="7645003"/>
            <a:ext cx="1867161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0407" y="490299"/>
            <a:ext cx="5807273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Technical Implementation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0407" y="1314926"/>
            <a:ext cx="445651" cy="4456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10407" y="1983343"/>
            <a:ext cx="222861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Processing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110407" y="2368868"/>
            <a:ext cx="789598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Pandas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NumPy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SciPy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analysis.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10407" y="3010495"/>
            <a:ext cx="445651" cy="4456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10407" y="3678912"/>
            <a:ext cx="222861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Database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110407" y="4064437"/>
            <a:ext cx="789598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PostgreSQL 13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with </a:t>
            </a: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SQLAlchemy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10407" y="4706064"/>
            <a:ext cx="445651" cy="4456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10407" y="5374481"/>
            <a:ext cx="222861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Orchestration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110407" y="5760006"/>
            <a:ext cx="789598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Apache Airflow 2.7.0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Docker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automated scheduling.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10407" y="6401633"/>
            <a:ext cx="445651" cy="44565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10407" y="7070050"/>
            <a:ext cx="2228612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Visualization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6110407" y="7455575"/>
            <a:ext cx="789598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Matplotlib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Seaborn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Jupyter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40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dashboards.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D9BDD5-574C-DCAC-6A66-127117EB25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63239" y="7645003"/>
            <a:ext cx="1867161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736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Insights &amp; Recommendations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05088"/>
            <a:ext cx="3664744" cy="2456617"/>
          </a:xfrm>
          <a:prstGeom prst="roundRect">
            <a:avLst>
              <a:gd name="adj" fmla="val 595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2605088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Operational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3352800"/>
            <a:ext cx="30587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Snow Events: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Deploy 25-30% more vehicles, pre-position crews, add 15-20 min buffer.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2605088"/>
            <a:ext cx="3664863" cy="2456617"/>
          </a:xfrm>
          <a:prstGeom prst="roundRect">
            <a:avLst>
              <a:gd name="adj" fmla="val 595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41268" y="2605088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0" name="Text 7"/>
          <p:cNvSpPr/>
          <p:nvPr/>
        </p:nvSpPr>
        <p:spPr>
          <a:xfrm>
            <a:off x="10520482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Strategic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20482" y="3352800"/>
            <a:ext cx="30588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Infrastructure: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Prioritize Chicago (heated shelters), Boston (drainage), study NYC resilience.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288518"/>
            <a:ext cx="3664744" cy="2093714"/>
          </a:xfrm>
          <a:prstGeom prst="roundRect">
            <a:avLst>
              <a:gd name="adj" fmla="val 6988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5288518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5545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Communication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6036231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B5B47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Proactive Alerts: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Mobile app integration for weather-based delay predictions.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518C33-D96B-76D4-0DBD-9DE909C54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239" y="7645003"/>
            <a:ext cx="1867161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53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049" y="3359468"/>
            <a:ext cx="5897880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Business Value &amp; ROI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71049" y="4488418"/>
            <a:ext cx="4179213" cy="72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$700K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1483757" y="5490567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Annual Savings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71049" y="5966936"/>
            <a:ext cx="417921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Potential savings up to $1.95M across 3 cities.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225534" y="4488418"/>
            <a:ext cx="4179213" cy="72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10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5797272" y="5490567"/>
            <a:ext cx="303561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On-Time Performance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225534" y="5966936"/>
            <a:ext cx="417921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Points improvement in on-time performance.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80019" y="4488418"/>
            <a:ext cx="4179332" cy="72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20%</a:t>
            </a:r>
            <a:endParaRPr lang="en-US" sz="5700" dirty="0"/>
          </a:p>
        </p:txBody>
      </p:sp>
      <p:sp>
        <p:nvSpPr>
          <p:cNvPr id="11" name="Text 8"/>
          <p:cNvSpPr/>
          <p:nvPr/>
        </p:nvSpPr>
        <p:spPr>
          <a:xfrm>
            <a:off x="10392847" y="5490567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Satisfaction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680019" y="5966936"/>
            <a:ext cx="417933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Increase in passenger satisfaction.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71049" y="6919555"/>
            <a:ext cx="1308830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project transforms reactive crisis management into proactive strategic planning, with significant financial and service quality benefits.</a:t>
            </a: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67A825-B7AE-3867-3F4E-8381179F0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239" y="7645003"/>
            <a:ext cx="1867161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153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 &amp; Future Enhancements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99911"/>
            <a:ext cx="350150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Summary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389370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Quantified weather impact (snow = 114% more delays).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9880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Analyzed 364,038 records across 3 cities.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50390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Built production-ready automated pipeline.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30900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Delivered actionable insights and dashboards.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3099911"/>
            <a:ext cx="350150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Future Enhancements</a:t>
            </a:r>
            <a:endParaRPr lang="en-US" sz="3550" dirty="0"/>
          </a:p>
        </p:txBody>
      </p:sp>
      <p:sp>
        <p:nvSpPr>
          <p:cNvPr id="10" name="Text 7"/>
          <p:cNvSpPr/>
          <p:nvPr/>
        </p:nvSpPr>
        <p:spPr>
          <a:xfrm>
            <a:off x="10342721" y="446067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Short-Term: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Add more cities, real-time weather API, ML predictions.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5628680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Long-Term: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Predictive maintenance, dynamic route optimization, climate impact.</a:t>
            </a: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A24B63-ADE0-072F-F934-A3C895F37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239" y="7645003"/>
            <a:ext cx="1867161" cy="514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660</Words>
  <Application>Microsoft Office PowerPoint</Application>
  <PresentationFormat>Custom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Gelasio</vt:lpstr>
      <vt:lpstr>Gelasio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Jay Chauhan</cp:lastModifiedBy>
  <cp:revision>5</cp:revision>
  <dcterms:created xsi:type="dcterms:W3CDTF">2025-11-25T16:04:50Z</dcterms:created>
  <dcterms:modified xsi:type="dcterms:W3CDTF">2025-11-26T08:57:12Z</dcterms:modified>
</cp:coreProperties>
</file>